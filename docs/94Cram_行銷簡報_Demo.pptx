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48B6A"/>
                </a:solidFill>
                <a:latin typeface="Microsoft JhengHei"/>
              </a:defRPr>
            </a:pPr>
            <a:r>
              <a:t>94Cram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JhengHei"/>
              </a:defRPr>
            </a:pPr>
            <a:r>
              <a:t>智慧補教管理生態系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E0D8"/>
                </a:solidFill>
                <a:latin typeface="Microsoft JhengHei"/>
              </a:defRPr>
            </a:pPr>
            <a:r>
              <a:t>三大系統 × AI 驅動 × 一站式解決方案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2743200" cy="36576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學員管理 ｜ 智慧點名 ｜ 庫存管控 ｜ AI 助手 ｜ LINE/Telegram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2026 產品介紹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5029200"/>
            <a:ext cx="2743200" cy="118872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免費試用 30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0D8"/>
                </a:solidFill>
                <a:latin typeface="Microsoft JhengHei"/>
              </a:defRPr>
            </a:pPr>
            <a:r>
              <a:t>零硬體投資 · 即開即用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補習班經營的六大痛點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您是否正在面對這些挑戰？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" cy="1554480"/>
          </a:xfrm>
          <a:prstGeom prst="rect">
            <a:avLst/>
          </a:prstGeom>
          <a:solidFill>
            <a:srgbClr val="C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5C5C"/>
                </a:solidFill>
                <a:latin typeface="Microsoft JhengHei"/>
              </a:defRPr>
            </a:pPr>
            <a:r>
              <a:t>學員管理混亂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紙本名冊、Excel 表格散落各處</a:t>
            </a:r>
            <a:br/>
            <a:r>
              <a:t>學員資料不統一，查詢耗時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54864" cy="1554480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8B6A"/>
                </a:solidFill>
                <a:latin typeface="Microsoft JhengHei"/>
              </a:defRPr>
            </a:pPr>
            <a:r>
              <a:t>點名效率低落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每堂課手動點名浪費 5-10 分鐘</a:t>
            </a:r>
            <a:br/>
            <a:r>
              <a:t>家長無法即時知道孩子出席狀況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54864" cy="1554480"/>
          </a:xfrm>
          <a:prstGeom prst="rect">
            <a:avLst/>
          </a:prstGeom>
          <a:solidFill>
            <a:srgbClr val="A0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7E93"/>
                </a:solidFill>
                <a:latin typeface="Microsoft JhengHei"/>
              </a:defRPr>
            </a:pPr>
            <a:r>
              <a:t>收費漏洞百出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繳費記錄靠人工，漏收時有所聞</a:t>
            </a:r>
            <a:br/>
            <a:r>
              <a:t>催款困難，應收帳款追蹤困難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54864" cy="1554480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6B8A"/>
                </a:solidFill>
                <a:latin typeface="Microsoft JhengHei"/>
              </a:defRPr>
            </a:pPr>
            <a:r>
              <a:t>教材管理失控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講義庫存靠感覺，常缺貨或囤積</a:t>
            </a:r>
            <a:br/>
            <a:r>
              <a:t>各校區教材流向不透明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02336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297680"/>
            <a:ext cx="54864" cy="1554480"/>
          </a:xfrm>
          <a:prstGeom prst="rect">
            <a:avLst/>
          </a:prstGeom>
          <a:solidFill>
            <a:srgbClr val="C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5C5C"/>
                </a:solidFill>
                <a:latin typeface="Microsoft JhengHei"/>
              </a:defRPr>
            </a:pPr>
            <a:r>
              <a:t>學員流失無感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學員流失才發現為時已晚</a:t>
            </a:r>
            <a:br/>
            <a:r>
              <a:t>缺乏預警機制，流失原因難追蹤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02336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297680"/>
            <a:ext cx="54864" cy="155448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4A5C"/>
                </a:solidFill>
                <a:latin typeface="Microsoft JhengHei"/>
              </a:defRPr>
            </a:pPr>
            <a:r>
              <a:t>資料安全堪憂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重要資料存在本機硬碟</a:t>
            </a:r>
            <a:br/>
            <a:r>
              <a:t>沒有備份，電腦一壞全部歸零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94Cram 一站式解決方案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三大系統 + AI 助手，完整覆蓋補習班營運需求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474720" cy="731520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1627632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6276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6B8A"/>
                </a:solidFill>
                <a:latin typeface="Microsoft JhengHei"/>
              </a:defRPr>
            </a:pPr>
            <a:r>
              <a:t>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6B8A"/>
                </a:solidFill>
                <a:latin typeface="Microsoft JhengHei"/>
              </a:defRPr>
            </a:pPr>
            <a:r>
              <a:t>94Manage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學員管理系統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46120"/>
            <a:ext cx="2560320" cy="18288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學員資料 · 課程管理 · 招生漏斗</a:t>
            </a:r>
            <a:br/>
            <a:r>
              <a:t>收費帳務 · 薪資管理 · AI 流失預警</a:t>
            </a:r>
            <a:br/>
            <a:r>
              <a:t>成績追蹤 · 知識庫 · 報表分析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474720" cy="731520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627632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16276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D83"/>
                </a:solidFill>
                <a:latin typeface="Microsoft JhengHei"/>
              </a:defRPr>
            </a:pPr>
            <a:r>
              <a:t>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D83"/>
                </a:solidFill>
                <a:latin typeface="Microsoft JhengHei"/>
              </a:defRPr>
            </a:pPr>
            <a:r>
              <a:t>94inClass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智慧點名系統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246120"/>
            <a:ext cx="2560320" cy="18288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NFC 刷卡點名（1秒完成）</a:t>
            </a:r>
            <a:br/>
            <a:r>
              <a:t>AI 臉部辨識 · 即時家長通知</a:t>
            </a:r>
            <a:br/>
            <a:r>
              <a:t>出勤統計 · 請假管理 · 成績管理</a:t>
            </a:r>
            <a:br/>
            <a:r>
              <a:t>課表排程 · 繳費管理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55448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554480"/>
            <a:ext cx="3474720" cy="731520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0" y="1627632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6276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8B6A"/>
                </a:solidFill>
                <a:latin typeface="Microsoft JhengHei"/>
              </a:defRPr>
            </a:pPr>
            <a:r>
              <a:t>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8B6A"/>
                </a:solidFill>
                <a:latin typeface="Microsoft JhengHei"/>
              </a:defRPr>
            </a:pPr>
            <a:r>
              <a:t>94Stock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庫存管理系統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3246120"/>
            <a:ext cx="2560320" cy="18288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多倉庫管理 · 條碼掃描</a:t>
            </a:r>
            <a:br/>
            <a:r>
              <a:t>進出貨追蹤 · 低庫存預警</a:t>
            </a:r>
            <a:br/>
            <a:r>
              <a:t>採購訂單流程 · 供應商管理</a:t>
            </a:r>
            <a:br/>
            <a:r>
              <a:t>盤點作業 · AI 備貨預測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52160"/>
            <a:ext cx="11247120" cy="77724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🤖  AI 驅動核心：Claude LLM + RAG 知識庫 + 自然語言操作 + 智慧預測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Telegram / LINE 聊天即操作，家長學員零門檻使用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94Manage — 學員管理系統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從招生到畢業，全生命週期管理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6B8A"/>
                </a:solidFill>
                <a:latin typeface="Microsoft JhengHei"/>
              </a:defRPr>
            </a:pPr>
            <a:r>
              <a:t>🎯 招生漏斗 &amp; 智慧分析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4572000" cy="50292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新諮詢 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880360"/>
            <a:ext cx="3931920" cy="502920"/>
          </a:xfrm>
          <a:prstGeom prst="round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已聯絡  75%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566160"/>
            <a:ext cx="3291840" cy="50292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預約試聽  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20" y="4251960"/>
            <a:ext cx="2651760" cy="502920"/>
          </a:xfrm>
          <a:prstGeom prst="roundRect">
            <a:avLst/>
          </a:prstGeom>
          <a:solidFill>
            <a:srgbClr val="A0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4297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完成試聽  35%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4937760"/>
            <a:ext cx="2011680" cy="502920"/>
          </a:xfrm>
          <a:prstGeom prst="round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4983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正式報名  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自動追蹤每階段轉換率 · 顧問績效排名 · 預期營收計算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0876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👨‍🎓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學員管理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8562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資料建檔 · 狀態追蹤 · 批量匯入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33172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課程管理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679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五種收費模式 · 動態費率調整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15468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帳務系統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502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繳費追蹤 · AI 自動發票 · 逾期提醒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977639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0233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薪資管理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2511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自動計算 · 時薪/獎金 · 薪資單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0060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成績分析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148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成績登錄 · 趨勢圖表 · 進步追蹤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62356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669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669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AI 報表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971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分校報告自動生成 · 學員詳細報告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🧠 AI 流失預警系統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業界首創：在學員流失前主動預警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6B8A"/>
                </a:solidFill>
                <a:latin typeface="Microsoft JhengHei"/>
              </a:defRPr>
            </a:pPr>
            <a:r>
              <a:t>多維度智慧分析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出勤率下降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連續缺課或出勤率低於班級平均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繳費延遲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逾期繳費或拖延天數增加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成績下降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連續退步或大幅落後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互動減少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課堂參與度降低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請假頻繁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請假次數異常增加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1463040"/>
            <a:ext cx="5669280" cy="50292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風險儀表板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286000"/>
            <a:ext cx="4937760" cy="109728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286000"/>
            <a:ext cx="73152" cy="1097280"/>
          </a:xfrm>
          <a:prstGeom prst="rect">
            <a:avLst/>
          </a:prstGeom>
          <a:solidFill>
            <a:srgbClr val="C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5C5C"/>
                </a:solidFill>
                <a:latin typeface="Microsoft JhengHei"/>
              </a:defRPr>
            </a:pPr>
            <a:r>
              <a:t>高風險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3 名學員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D8"/>
                </a:solidFill>
                <a:latin typeface="Microsoft JhengHei"/>
              </a:defRPr>
            </a:pPr>
            <a:r>
              <a:t>建議行動：立即聯繫 · 安排面談 · 提供優惠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657600"/>
            <a:ext cx="4937760" cy="109728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73152" cy="109728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749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A35A"/>
                </a:solidFill>
                <a:latin typeface="Microsoft JhengHei"/>
              </a:defRPr>
            </a:pPr>
            <a:r>
              <a:t>中風險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8 名學員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D8"/>
                </a:solidFill>
                <a:latin typeface="Microsoft JhengHei"/>
              </a:defRPr>
            </a:pPr>
            <a:r>
              <a:t>建議行動：加強關懷 · 追蹤狀態 · 觀察趨勢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029200"/>
            <a:ext cx="4937760" cy="109728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5029200"/>
            <a:ext cx="73152" cy="1097280"/>
          </a:xfrm>
          <a:prstGeom prst="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8C6A"/>
                </a:solidFill>
                <a:latin typeface="Microsoft JhengHei"/>
              </a:defRPr>
            </a:pPr>
            <a:r>
              <a:t>低風險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45 名學員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D8"/>
                </a:solidFill>
                <a:latin typeface="Microsoft JhengHei"/>
              </a:defRPr>
            </a:pPr>
            <a:r>
              <a:t>建議行動：維持現狀 · 定期關懷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⚡ 每日自動掃描 · 準確率 92% · 提前 2-4 週預警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94inClass — 智慧點名系統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1 秒完成點名，家長即時收到通知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474720" cy="29260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Microsoft JhengHe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NFC 感應點名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刷卡即到 · 1 秒完成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市售 NFC 讀卡機 NT$300 即可</a:t>
            </a:r>
            <a:br/>
            <a:r>
              <a:t>支援所有 NFC 卡片</a:t>
            </a:r>
            <a:br/>
            <a:r>
              <a:t>零學習成本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474720" cy="2926080"/>
          </a:xfrm>
          <a:prstGeom prst="round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Microsoft JhengHei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AI 臉部辨識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走進教室自動辨識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使用一般網路攝影機</a:t>
            </a:r>
            <a:br/>
            <a:r>
              <a:t>防代簽驗證</a:t>
            </a:r>
            <a:br/>
            <a:r>
              <a:t>科技感十足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474720" cy="292608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Microsoft JhengHei"/>
              </a:defRPr>
            </a:pPr>
            <a: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即時家長通知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LINE 推播零延遲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到校即通知家長</a:t>
            </a:r>
            <a:br/>
            <a:r>
              <a:t>遲到/缺席自動推播</a:t>
            </a:r>
            <a:br/>
            <a:r>
              <a:t>每日出勤摘要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📊 出勤統計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日/週/月報表</a:t>
            </a:r>
            <a:br/>
            <a:r>
              <a:t>出勤率分析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📝 請假管理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線上請假申請</a:t>
            </a:r>
            <a:br/>
            <a:r>
              <a:t>額度追蹤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📅 課表管理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教室 · 老師 · 時段</a:t>
            </a:r>
            <a:br/>
            <a:r>
              <a:t>排程管理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59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59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💳 繳費管理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多元週期 · 狀態追蹤</a:t>
            </a:r>
            <a:br/>
            <a:r>
              <a:t>批次登錄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📄 成績管理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成績登錄 · 統計</a:t>
            </a:r>
            <a:br/>
            <a:r>
              <a:t>排名 · 進步追蹤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94Stock — 庫存管理系統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教材管理數位化，再也不怕講義缺貨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  <a:latin typeface="Microsoft JhengHei"/>
              </a:defRPr>
            </a:pPr>
            <a:r>
              <a:t>進貨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採購收貨</a:t>
            </a:r>
            <a:br/>
            <a:r>
              <a:t>條碼掃描</a:t>
            </a:r>
            <a:br/>
            <a:r>
              <a:t>自動入帳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8B6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6304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  <a:latin typeface="Microsoft JhengHei"/>
              </a:defRPr>
            </a:pPr>
            <a:r>
              <a:t>倉儲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60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多倉庫管理</a:t>
            </a:r>
            <a:br/>
            <a:r>
              <a:t>即時庫存</a:t>
            </a:r>
            <a:br/>
            <a:r>
              <a:t>安全存量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8B6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46304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  <a:latin typeface="Microsoft JhengHei"/>
              </a:defRPr>
            </a:pPr>
            <a:r>
              <a:t>出貨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60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班級領用</a:t>
            </a:r>
            <a:br/>
            <a:r>
              <a:t>銷售出貨</a:t>
            </a:r>
            <a:br/>
            <a:r>
              <a:t>簽收記錄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8B6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46304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  <a:latin typeface="Microsoft JhengHei"/>
              </a:defRPr>
            </a:pPr>
            <a:r>
              <a:t>轉庫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560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校區間轉移</a:t>
            </a:r>
            <a:br/>
            <a:r>
              <a:t>雙邊自動帳</a:t>
            </a:r>
            <a:br/>
            <a:r>
              <a:t>交易記錄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9768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2651760" cy="54864"/>
          </a:xfrm>
          <a:prstGeom prst="rect">
            <a:avLst/>
          </a:prstGeom>
          <a:solidFill>
            <a:srgbClr val="C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5C5C"/>
                </a:solidFill>
                <a:latin typeface="Microsoft JhengHei"/>
              </a:defRPr>
            </a:pPr>
            <a:r>
              <a:t>低庫存預警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94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Telegram 即時推播</a:t>
            </a:r>
            <a:br/>
            <a:r>
              <a:t>低於安全存量自動通知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29768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4297680"/>
            <a:ext cx="2651760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6B8A"/>
                </a:solidFill>
                <a:latin typeface="Microsoft JhengHei"/>
              </a:defRPr>
            </a:pPr>
            <a:r>
              <a:t>採購訂單流程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394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草稿→審核→核准→收貨</a:t>
            </a:r>
            <a:br/>
            <a:r>
              <a:t>完整審批流程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29768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297680"/>
            <a:ext cx="2651760" cy="54864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9D83"/>
                </a:solidFill>
                <a:latin typeface="Microsoft JhengHei"/>
              </a:defRPr>
            </a:pPr>
            <a:r>
              <a:t>盤點管理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394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建立盤點單 · 掃描盤點</a:t>
            </a:r>
            <a:br/>
            <a:r>
              <a:t>差異自動調整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29768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4297680"/>
            <a:ext cx="2651760" cy="54864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8B6A"/>
                </a:solidFill>
                <a:latin typeface="Microsoft JhengHei"/>
              </a:defRPr>
            </a:pPr>
            <a:r>
              <a:t>AI 備貨預測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394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基於歷史數據</a:t>
            </a:r>
            <a:br/>
            <a:r>
              <a:t>自動建議補貨量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🤖 AI 智慧機器人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用「說話」管理補習班 — Telegram / LINE 自然語言操作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8B6A"/>
                </a:solidFill>
                <a:latin typeface="Microsoft JhengHei"/>
              </a:defRPr>
            </a:pPr>
            <a:r>
              <a:t>👔 管理員模式（Telegram）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「陳小明請假」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自動記錄請假申請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07792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「高二班繳 5000 元」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53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自動建立繳費紀錄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9584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753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「203 號講義剩幾本」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753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即時查詢庫存數量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51376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970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「今天出勤率多少」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970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顯示當日出勤統計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73168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188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「本月營收報表」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18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產生收入分析報告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「切換到中壢分校」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切換操作分校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52160"/>
            <a:ext cx="5029200" cy="41148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🔒  寫入操作二次確認 · 防誤操作設計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554480"/>
            <a:ext cx="5486400" cy="484632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D83"/>
                </a:solidFill>
                <a:latin typeface="Microsoft JhengHei"/>
              </a:defRPr>
            </a:pPr>
            <a:r>
              <a:t>👨‍👩‍👧 家長模式（Telegram / LINE）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28600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綁定驗證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578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孩子姓名 + 電話末 4 碼</a:t>
            </a:r>
            <a:br/>
            <a:r>
              <a:t>簡單安全的身份驗證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10896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出勤查詢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401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「小明今天有到嗎？」</a:t>
            </a:r>
            <a:br/>
            <a:r>
              <a:t>即時回覆到校狀態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93192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成績查詢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224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「小明最近考試成績」</a:t>
            </a:r>
            <a:br/>
            <a:r>
              <a:t>自動顯示成績與排名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475488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費用查詢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0474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「小明學費繳清了嗎？」</a:t>
            </a:r>
            <a:br/>
            <a:r>
              <a:t>顯示繳費狀態與明細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557784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課表查詢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870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「小明這週上課時間」</a:t>
            </a:r>
            <a:br/>
            <a:r>
              <a:t>完整課表一目瞭然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5852160"/>
            <a:ext cx="5029200" cy="411480"/>
          </a:xfrm>
          <a:prstGeom prst="round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💡  零學習成本 · 用對話就能查詢一切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競品比較分析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為什麼 94Cram 是最佳選擇？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43200" cy="6400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功能比較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2103120" cy="6400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4813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94Cram</a:t>
            </a:r>
            <a:br/>
            <a:r>
              <a:t>智慧補教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63040"/>
            <a:ext cx="2103120" cy="6400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4813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傳統補教</a:t>
            </a:r>
            <a:br/>
            <a:r>
              <a:t>ERP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63040"/>
            <a:ext cx="2103120" cy="6400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4813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Excel</a:t>
            </a:r>
            <a:br/>
            <a:r>
              <a:t>人工管理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463040"/>
            <a:ext cx="2103120" cy="6400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4813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其他 SaaS</a:t>
            </a:r>
            <a:br/>
            <a:r>
              <a:t>管理系統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4884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學員管理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14884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148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1488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148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1488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148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1488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148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51460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514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智慧點名 (NFC/臉辨)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251460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5146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5146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5146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8036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880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AI 流失預警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288036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2880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88036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2880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288036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2880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288036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2880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24612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246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庫存管理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324612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24612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24612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24612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61188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3611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LINE/Telegram Bot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361188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3611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361188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0" y="3611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361188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3611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760" y="361188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760" y="3611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977639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39776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AI 自然語言操作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0" y="3977639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0" y="3977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0" y="3977639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0" y="3977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3977639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3977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3977639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09760" y="3977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34340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343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家長即時通知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0" y="434340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0" y="4343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3520" y="434340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0" y="4343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434340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06640" y="4343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09760" y="434340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09760" y="4343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70916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4709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多分校支援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0" y="470916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03520" y="470916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06640" y="470916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0664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09760" y="470916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0976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07492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5074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雲端 SaaS（免硬體）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0" y="507492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0" y="5074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303520" y="507492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0" y="5074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406640" y="507492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06640" y="5074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09760" y="507492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09760" y="5074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544068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5440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AI 備貨預測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0" y="544068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00400" y="5440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303520" y="544068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03520" y="5440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06640" y="544068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06640" y="5440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09760" y="544068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509760" y="5440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580644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" y="5806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月費 (參考)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0" y="58064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040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NT$2,999 起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303520" y="58064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0352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NT$10,000+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406640" y="58064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40664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免費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09760" y="58064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0976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NT$5,000+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" y="617220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0080" y="6172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建置費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00400" y="61722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0" y="6172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0 元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303520" y="61722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03520" y="6172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10~50 萬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406640" y="61722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406640" y="6172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0 元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509760" y="61722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509760" y="6172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0~5 萬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57200" y="5852160"/>
            <a:ext cx="11247120" cy="73152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4400" y="59253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💡 94Cram 是市場上唯一整合「學員管理 + 點名 + 庫存 + AI + Bot」的補教管理系統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4400" y="623620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其他系統至少需要 3-4 套軟體才能達到相同效果，且無 AI 智慧功能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技術架構優勢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企業級雲端架構，補習班級的價格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828800" cy="6400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使用者端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41732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Web 瀏覽器 · LINE · Telegram · 手機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828800" cy="640080"/>
          </a:xfrm>
          <a:prstGeom prst="round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前端層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24028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Next.js 14 · TypeScript · Tailwind CSS · SSR 加速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1828800" cy="64008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API 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06324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Hono.js · JWT 認證 · RBAC 權限 · Zod 驗證 · RESTful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6200"/>
            <a:ext cx="1828800" cy="640080"/>
          </a:xfrm>
          <a:prstGeom prst="roundRect">
            <a:avLst/>
          </a:prstGeom>
          <a:solidFill>
            <a:srgbClr val="A0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AI 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88620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Claude LLM · RAG 知識庫 · 向量檢索 · 意圖判斷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09160"/>
            <a:ext cx="1828800" cy="64008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資料層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470916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PostgreSQL · Drizzle ORM · 多租戶隔離 · 審計日誌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32120"/>
            <a:ext cx="1828800" cy="6400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基礎設施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553212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Google Cloud Run · Cloud SQL · 自動擴縮 · Blue-Green 部署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141732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更新零停機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2402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Blue-Green 部署</a:t>
            </a:r>
            <a:br/>
            <a:r>
              <a:t>更新系統完全不影響使用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141732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企業級安全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2402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JWT + RBAC + 審計日誌</a:t>
            </a:r>
            <a:br/>
            <a:r>
              <a:t>每筆操作可追蹤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310896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自動擴縮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931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尖峰時段自動擴展</a:t>
            </a:r>
            <a:br/>
            <a:r>
              <a:t>離峰自動縮減省錢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20" y="310896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台灣機房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931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Google Cloud 台灣區</a:t>
            </a:r>
            <a:br/>
            <a:r>
              <a:t>延遲 &lt; 50ms 超快速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480060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自動備份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5623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每日自動備份</a:t>
            </a:r>
            <a:br/>
            <a:r>
              <a:t>資料永不遺失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75520" y="480060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資料隔離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5623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多租戶架構</a:t>
            </a:r>
            <a:br/>
            <a:r>
              <a:t>每家補習班資料獨立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🔐 安全與合規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補教業最嚴謹的資安標準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JWT 認證 + 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三系統單一登入</a:t>
            </a:r>
            <a:br/>
            <a:r>
              <a:t>一組帳號通用全平台</a:t>
            </a:r>
            <a:br/>
            <a:r>
              <a:t>自動逾時登出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RBAC 角色權限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6 種角色細粒度控管</a:t>
            </a:r>
            <a:br/>
            <a:r>
              <a:t>資源級存取控制</a:t>
            </a:r>
            <a:br/>
            <a:r>
              <a:t>每個人只看到該看的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完整審計日誌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所有操作留下紀錄</a:t>
            </a:r>
            <a:br/>
            <a:r>
              <a:t>何人何時改了什麼</a:t>
            </a:r>
            <a:br/>
            <a:r>
              <a:t>IP 來源追蹤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多租戶隔離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每家補習班資料獨立</a:t>
            </a:r>
            <a:br/>
            <a:r>
              <a:t>互不干擾、不外洩</a:t>
            </a:r>
            <a:br/>
            <a:r>
              <a:t>嚴格 tenantId 驗證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2336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☁️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Google Cloud 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SSL/TLS 加密傳輸</a:t>
            </a:r>
            <a:br/>
            <a:r>
              <a:t>台灣機房資料主權</a:t>
            </a:r>
            <a:br/>
            <a:r>
              <a:t>定期自動備份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2336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個資保護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符合個資法規範</a:t>
            </a:r>
            <a:br/>
            <a:r>
              <a:t>敏感資料加密存儲</a:t>
            </a:r>
            <a:br/>
            <a:r>
              <a:t>環境變數管理密鑰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成本效益分析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最低成本，最高效率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94560" cy="54864"/>
          </a:xfrm>
          <a:prstGeom prst="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A8C6A"/>
                </a:solidFill>
                <a:latin typeface="Microsoft JhengHei"/>
              </a:defRPr>
            </a:pPr>
            <a:r>
              <a:t>NT$0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建置費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194560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6B8A"/>
                </a:solidFill>
                <a:latin typeface="Microsoft JhengHei"/>
              </a:defRPr>
            </a:pPr>
            <a:r>
              <a:t>NT$300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NFC 讀卡機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194560" cy="54864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8B6A"/>
                </a:solidFill>
                <a:latin typeface="Microsoft JhengHei"/>
              </a:defRPr>
            </a:pPr>
            <a:r>
              <a:t>30 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免費試用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2194560" cy="54864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9D83"/>
                </a:solidFill>
                <a:latin typeface="Microsoft JhengHei"/>
              </a:defRPr>
            </a:pPr>
            <a:r>
              <a:t>99.95%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系統可用性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00400"/>
            <a:ext cx="548640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  <a:latin typeface="Microsoft JhengHei"/>
              </a:defRPr>
            </a:pPr>
            <a:r>
              <a:t>💰 3 年總成本比較（TCO）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794760"/>
            <a:ext cx="1828800" cy="347472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94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項目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794760"/>
            <a:ext cx="1554480" cy="347472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3794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94Cram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794760"/>
            <a:ext cx="1554480" cy="347472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3794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傳統系統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178808"/>
            <a:ext cx="182880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1788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建置費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4178808"/>
            <a:ext cx="155448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4178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NT$0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178808"/>
            <a:ext cx="155448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4178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NT$100,000+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62856"/>
            <a:ext cx="1828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5628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硬體採購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4562856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4562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NT$300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562856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4562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NT$50,000+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946904"/>
            <a:ext cx="182880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9469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年度授權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4946904"/>
            <a:ext cx="155448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49469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NT$35,988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4946904"/>
            <a:ext cx="155448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49469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NT$120,000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330952"/>
            <a:ext cx="1828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330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維護費用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5330952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0320" y="53309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NT$0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5330952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0" y="53309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NT$30,000/年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715000"/>
            <a:ext cx="182880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715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8C6A"/>
                </a:solidFill>
                <a:latin typeface="Microsoft JhengHei"/>
              </a:defRPr>
            </a:pPr>
            <a:r>
              <a:t>3 年總計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5715000"/>
            <a:ext cx="155448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0" y="57150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A8C6A"/>
                </a:solidFill>
                <a:latin typeface="Microsoft JhengHei"/>
              </a:defRPr>
            </a:pPr>
            <a:r>
              <a:t>NT$108,264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5715000"/>
            <a:ext cx="155448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0" y="57150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NT$430,000+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6099048"/>
            <a:ext cx="182880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60990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8C6A"/>
                </a:solidFill>
                <a:latin typeface="Microsoft JhengHei"/>
              </a:defRPr>
            </a:pPr>
            <a:r>
              <a:t>節省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0" y="6099048"/>
            <a:ext cx="155448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60320" y="60990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A8C6A"/>
                </a:solidFill>
                <a:latin typeface="Microsoft JhengHei"/>
              </a:defRPr>
            </a:pPr>
            <a:r>
              <a:t>— 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0" y="6099048"/>
            <a:ext cx="155448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0" y="60990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75%↓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3200400"/>
            <a:ext cx="5303520" cy="33832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📈 導入效益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每堂省 5 分鐘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4114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智慧點名取代手動點名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每月省 10+ 小時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4453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學員流失率降低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4681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AI 預警提前 2-4 週通知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0" y="4498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留住 15% 潛在流失學員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5020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收費零遺漏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52486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自動追蹤每筆繳費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5065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每月多收 NT$5,000+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558698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教材零浪費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581558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AI 備貨預測精準採購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0" y="56327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減少 20% 囤積浪費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6153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招生轉換率提升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63825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漏斗分析優化招生流程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6199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轉換率提升 30%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服務方案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彈性選擇，隨需擴展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47472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474720" cy="1188720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入門版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NT$2,999/月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50 學員以下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94Manage 學員管理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基本課程管理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繳費記錄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成績管理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Email 支援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234440"/>
            <a:ext cx="2011680" cy="32004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252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⭐ 最受歡迎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508760"/>
            <a:ext cx="347472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508760"/>
            <a:ext cx="3474720" cy="1188720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標準版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NT$5,999/月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200 學員以下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全部入門版功能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94inClass 點名系統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NFC + 手動點名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LINE 家長通知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出勤報表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AI 流失預警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優先支援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1508760"/>
            <a:ext cx="347472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1508760"/>
            <a:ext cx="3474720" cy="1188720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專業版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NT$8,999/月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500 學員以下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全部標準版功能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94Stock 庫存管理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AI 臉辨點名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Telegram Bot 操作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AI 備貨預測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多分校支援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專屬客服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API 整合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輕鬆導入流程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4 步驟，最快當天開始使用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Oval 5"/>
          <p:cNvSpPr/>
          <p:nvPr/>
        </p:nvSpPr>
        <p:spPr>
          <a:xfrm>
            <a:off x="1417320" y="2011680"/>
            <a:ext cx="914400" cy="914400"/>
          </a:xfrm>
          <a:prstGeom prst="ellipse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2423160"/>
            <a:ext cx="1188720" cy="36576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6B8A"/>
                </a:solidFill>
                <a:latin typeface="Microsoft JhengHei"/>
              </a:defRPr>
            </a:pPr>
            <a:r>
              <a:t>免費諮詢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了解您的需求</a:t>
            </a:r>
            <a:br/>
            <a:r>
              <a:t>推薦適合方案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2011680"/>
            <a:ext cx="914400" cy="914400"/>
          </a:xfrm>
          <a:prstGeom prst="ellipse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2423160"/>
            <a:ext cx="1188720" cy="36576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9D83"/>
                </a:solidFill>
                <a:latin typeface="Microsoft JhengHei"/>
              </a:defRPr>
            </a:pPr>
            <a:r>
              <a:t>帳號開通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30 分鐘完成設定</a:t>
            </a:r>
            <a:br/>
            <a:r>
              <a:t>匯入現有學員資料</a:t>
            </a:r>
          </a:p>
        </p:txBody>
      </p:sp>
      <p:sp>
        <p:nvSpPr>
          <p:cNvPr id="16" name="Oval 15"/>
          <p:cNvSpPr/>
          <p:nvPr/>
        </p:nvSpPr>
        <p:spPr>
          <a:xfrm>
            <a:off x="7452360" y="2011680"/>
            <a:ext cx="914400" cy="914400"/>
          </a:xfrm>
          <a:prstGeom prst="ellipse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2423160"/>
            <a:ext cx="1188720" cy="36576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48B6A"/>
                </a:solidFill>
                <a:latin typeface="Microsoft JhengHei"/>
              </a:defRPr>
            </a:pPr>
            <a:r>
              <a:t>教育訓練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1 小時快速上手</a:t>
            </a:r>
            <a:br/>
            <a:r>
              <a:t>提供操作手冊</a:t>
            </a:r>
          </a:p>
        </p:txBody>
      </p:sp>
      <p:sp>
        <p:nvSpPr>
          <p:cNvPr id="21" name="Oval 20"/>
          <p:cNvSpPr/>
          <p:nvPr/>
        </p:nvSpPr>
        <p:spPr>
          <a:xfrm>
            <a:off x="10469879" y="2011680"/>
            <a:ext cx="914400" cy="914400"/>
          </a:xfrm>
          <a:prstGeom prst="ellipse">
            <a:avLst/>
          </a:prstGeom>
          <a:solidFill>
            <a:srgbClr val="A0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79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7E93"/>
                </a:solidFill>
                <a:latin typeface="Microsoft JhengHei"/>
              </a:defRPr>
            </a:pPr>
            <a:r>
              <a:t>正式啟用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9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30 天免費試用</a:t>
            </a:r>
            <a:br/>
            <a:r>
              <a:t>隨時都有支援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2651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A8C6A"/>
                </a:solidFill>
                <a:latin typeface="Microsoft JhengHei"/>
              </a:defRPr>
            </a:pPr>
            <a:r>
              <a:t>✓ 免費資料轉移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49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舊系統資料完整匯入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46320"/>
            <a:ext cx="2651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A8C6A"/>
                </a:solidFill>
                <a:latin typeface="Microsoft JhengHei"/>
              </a:defRPr>
            </a:pPr>
            <a:r>
              <a:t>✓ 免費教育訓練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349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保證所有員工會操作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846320"/>
            <a:ext cx="2651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A8C6A"/>
                </a:solidFill>
                <a:latin typeface="Microsoft JhengHei"/>
              </a:defRPr>
            </a:pPr>
            <a:r>
              <a:t>✓ 30 天無條件退費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349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不滿意隨時取消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4846320"/>
            <a:ext cx="2651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A8C6A"/>
                </a:solidFill>
                <a:latin typeface="Microsoft JhengHei"/>
              </a:defRPr>
            </a:pPr>
            <a:r>
              <a:t>✓ 24hr 技術支援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349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問題隨時幫您解決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0D8"/>
                </a:solidFill>
                <a:latin typeface="Microsoft JhengHei"/>
              </a:defRPr>
            </a:pPr>
            <a:r>
              <a:t>準備好升級您的補習班了嗎？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Microsoft JhengHei"/>
              </a:defRPr>
            </a:pPr>
            <a:r>
              <a:t>讓 94Cram 成為您最強大的經營武器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2743200" cy="36576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JhengHei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6758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94cram.app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JhengHei"/>
              </a:defRPr>
            </a:pPr>
            <a: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78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contact@94cram.app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JhengHei"/>
              </a:defRPr>
            </a:pPr>
            <a: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681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LINE 官方帳號 @94cram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JhengHei"/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184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Telegram @bot94cram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474720"/>
            <a:ext cx="4114800" cy="137160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立即免費試用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30 天完整體驗 · 零風險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5029200"/>
            <a:ext cx="4114800" cy="9144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預約 Demo 演示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0D8"/>
                </a:solidFill>
                <a:latin typeface="Microsoft JhengHei"/>
              </a:defRPr>
            </a:pPr>
            <a:r>
              <a:t>專人為您展示完整功能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© 2026 94Cram 智慧補教管理系統  |  三大系統 × AI 驅動 × 一站式解決方案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